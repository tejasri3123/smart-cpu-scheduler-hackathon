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val 1"/>
          <p:cNvSpPr/>
          <p:nvPr/>
        </p:nvSpPr>
        <p:spPr>
          <a:xfrm>
            <a:off x="8778240" y="-320041"/>
            <a:ext cx="3657601" cy="2743201"/>
          </a:xfrm>
          <a:prstGeom prst="ellipse">
            <a:avLst/>
          </a:prstGeom>
          <a:solidFill>
            <a:srgbClr val="235CD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Oval 2"/>
          <p:cNvSpPr/>
          <p:nvPr/>
        </p:nvSpPr>
        <p:spPr>
          <a:xfrm>
            <a:off x="9966959" y="4389120"/>
            <a:ext cx="2834641" cy="2743201"/>
          </a:xfrm>
          <a:prstGeom prst="ellipse">
            <a:avLst/>
          </a:prstGeom>
          <a:solidFill>
            <a:srgbClr val="2DC8E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Oval 3"/>
          <p:cNvSpPr/>
          <p:nvPr/>
        </p:nvSpPr>
        <p:spPr>
          <a:xfrm>
            <a:off x="8138159" y="5212079"/>
            <a:ext cx="1280161" cy="1280161"/>
          </a:xfrm>
          <a:prstGeom prst="ellipse">
            <a:avLst/>
          </a:prstGeom>
          <a:solidFill>
            <a:srgbClr val="235CD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TextBox 4"/>
          <p:cNvSpPr txBox="1"/>
          <p:nvPr/>
        </p:nvSpPr>
        <p:spPr>
          <a:xfrm>
            <a:off x="777240" y="548640"/>
            <a:ext cx="795527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4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OPERATING SYSTEMS  |  PROJECT PRESENTATION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777239" y="1234439"/>
            <a:ext cx="8321042" cy="1069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b="1" sz="30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SMART CPU SCHEDULER</a:t>
            </a:r>
          </a:p>
          <a:p>
            <a:pPr>
              <a:spcBef>
                <a:spcPts val="500"/>
              </a:spcBef>
              <a:defRPr b="1" sz="30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WITH DYNAMIC PRIORITY ADJUSTMENT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822960" y="2971799"/>
            <a:ext cx="72237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9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Reducing starvation through priority aging</a:t>
            </a:r>
          </a:p>
        </p:txBody>
      </p:sp>
      <p:sp>
        <p:nvSpPr>
          <p:cNvPr id="100" name="Rounded Rectangle 7"/>
          <p:cNvSpPr/>
          <p:nvPr/>
        </p:nvSpPr>
        <p:spPr>
          <a:xfrm>
            <a:off x="777240" y="3840479"/>
            <a:ext cx="4297680" cy="1417321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9"/>
          <p:cNvSpPr txBox="1"/>
          <p:nvPr/>
        </p:nvSpPr>
        <p:spPr>
          <a:xfrm>
            <a:off x="987551" y="4023360"/>
            <a:ext cx="3877058" cy="109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Team members and roll numbers:</a:t>
            </a:r>
          </a:p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1. Ratna priya - 2520030156</a:t>
            </a:r>
          </a:p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2. Teja Sri - 2520030132</a:t>
            </a:r>
          </a:p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3.Chandra Hasini - 2520030086</a:t>
            </a:r>
          </a:p>
        </p:txBody>
      </p:sp>
      <p:sp>
        <p:nvSpPr>
          <p:cNvPr id="102" name="TextBox 10"/>
          <p:cNvSpPr txBox="1"/>
          <p:nvPr/>
        </p:nvSpPr>
        <p:spPr>
          <a:xfrm>
            <a:off x="822959" y="5714999"/>
            <a:ext cx="777240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KLH University – Bachupally Campus  |  Academic Year 2026–2027</a:t>
            </a:r>
          </a:p>
        </p:txBody>
      </p:sp>
      <p:sp>
        <p:nvSpPr>
          <p:cNvPr id="103" name="TextBox 11"/>
          <p:cNvSpPr txBox="1"/>
          <p:nvPr/>
        </p:nvSpPr>
        <p:spPr>
          <a:xfrm>
            <a:off x="594359" y="6510528"/>
            <a:ext cx="1060704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SMART CPU SCHEDULER  •  OPERATING SYSTEMS PROJECT</a:t>
            </a:r>
          </a:p>
        </p:txBody>
      </p:sp>
      <p:sp>
        <p:nvSpPr>
          <p:cNvPr id="104" name="TextBox 12"/>
          <p:cNvSpPr txBox="1"/>
          <p:nvPr/>
        </p:nvSpPr>
        <p:spPr>
          <a:xfrm>
            <a:off x="11201400" y="6473952"/>
            <a:ext cx="365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b="1" sz="10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 txBox="1"/>
          <p:nvPr/>
        </p:nvSpPr>
        <p:spPr>
          <a:xfrm>
            <a:off x="548639" y="256031"/>
            <a:ext cx="1106424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2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  |  Introduction</a:t>
            </a:r>
          </a:p>
        </p:txBody>
      </p:sp>
      <p:sp>
        <p:nvSpPr>
          <p:cNvPr id="107" name="Rectangle 2"/>
          <p:cNvSpPr/>
          <p:nvPr/>
        </p:nvSpPr>
        <p:spPr>
          <a:xfrm>
            <a:off x="530351" y="877824"/>
            <a:ext cx="1143001" cy="50293"/>
          </a:xfrm>
          <a:prstGeom prst="rect">
            <a:avLst/>
          </a:prstGeom>
          <a:solidFill>
            <a:srgbClr val="2DC8E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3"/>
          <p:cNvSpPr txBox="1"/>
          <p:nvPr/>
        </p:nvSpPr>
        <p:spPr>
          <a:xfrm>
            <a:off x="594360" y="987552"/>
            <a:ext cx="108813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CPU scheduling and its role in an operating system</a:t>
            </a:r>
          </a:p>
        </p:txBody>
      </p:sp>
      <p:sp>
        <p:nvSpPr>
          <p:cNvPr id="109" name="TextBox 4"/>
          <p:cNvSpPr txBox="1"/>
          <p:nvPr/>
        </p:nvSpPr>
        <p:spPr>
          <a:xfrm>
            <a:off x="594359" y="6510528"/>
            <a:ext cx="1060704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SMART CPU SCHEDULER  •  OPERATING SYSTEMS PROJECT</a:t>
            </a:r>
          </a:p>
        </p:txBody>
      </p:sp>
      <p:sp>
        <p:nvSpPr>
          <p:cNvPr id="110" name="TextBox 5"/>
          <p:cNvSpPr txBox="1"/>
          <p:nvPr/>
        </p:nvSpPr>
        <p:spPr>
          <a:xfrm>
            <a:off x="11201400" y="6473952"/>
            <a:ext cx="365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b="1" sz="10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1" name="Rounded Rectangle 6"/>
          <p:cNvSpPr/>
          <p:nvPr/>
        </p:nvSpPr>
        <p:spPr>
          <a:xfrm>
            <a:off x="640080" y="1508760"/>
            <a:ext cx="3474721" cy="1508761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TextBox 7"/>
          <p:cNvSpPr txBox="1"/>
          <p:nvPr/>
        </p:nvSpPr>
        <p:spPr>
          <a:xfrm>
            <a:off x="850390" y="1618488"/>
            <a:ext cx="3054098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OPERATING SYSTEM</a:t>
            </a:r>
          </a:p>
        </p:txBody>
      </p:sp>
      <p:sp>
        <p:nvSpPr>
          <p:cNvPr id="113" name="TextBox 8"/>
          <p:cNvSpPr txBox="1"/>
          <p:nvPr/>
        </p:nvSpPr>
        <p:spPr>
          <a:xfrm>
            <a:off x="850390" y="1984248"/>
            <a:ext cx="3054098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Manages processes, memory, files and hardware resources.</a:t>
            </a:r>
          </a:p>
        </p:txBody>
      </p:sp>
      <p:sp>
        <p:nvSpPr>
          <p:cNvPr id="114" name="Rounded Rectangle 9"/>
          <p:cNvSpPr/>
          <p:nvPr/>
        </p:nvSpPr>
        <p:spPr>
          <a:xfrm>
            <a:off x="4343400" y="1508760"/>
            <a:ext cx="3474721" cy="1508761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10"/>
          <p:cNvSpPr txBox="1"/>
          <p:nvPr/>
        </p:nvSpPr>
        <p:spPr>
          <a:xfrm>
            <a:off x="4553711" y="1618488"/>
            <a:ext cx="3054097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235CD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CPU SCHEDULER</a:t>
            </a:r>
          </a:p>
        </p:txBody>
      </p:sp>
      <p:sp>
        <p:nvSpPr>
          <p:cNvPr id="116" name="TextBox 11"/>
          <p:cNvSpPr txBox="1"/>
          <p:nvPr/>
        </p:nvSpPr>
        <p:spPr>
          <a:xfrm>
            <a:off x="4553711" y="1984248"/>
            <a:ext cx="3054097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Chooses which ready process receives CPU time next.</a:t>
            </a:r>
          </a:p>
        </p:txBody>
      </p:sp>
      <p:sp>
        <p:nvSpPr>
          <p:cNvPr id="117" name="Rounded Rectangle 12"/>
          <p:cNvSpPr/>
          <p:nvPr/>
        </p:nvSpPr>
        <p:spPr>
          <a:xfrm>
            <a:off x="8046719" y="1508760"/>
            <a:ext cx="3474721" cy="1508761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13"/>
          <p:cNvSpPr txBox="1"/>
          <p:nvPr/>
        </p:nvSpPr>
        <p:spPr>
          <a:xfrm>
            <a:off x="8257031" y="1618488"/>
            <a:ext cx="3054098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FFAA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PRIORITY SCHEDULING</a:t>
            </a:r>
          </a:p>
        </p:txBody>
      </p:sp>
      <p:sp>
        <p:nvSpPr>
          <p:cNvPr id="119" name="TextBox 14"/>
          <p:cNvSpPr txBox="1"/>
          <p:nvPr/>
        </p:nvSpPr>
        <p:spPr>
          <a:xfrm>
            <a:off x="8257031" y="1984248"/>
            <a:ext cx="3054098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Selects a ready process based on its priority value.</a:t>
            </a:r>
          </a:p>
        </p:txBody>
      </p:sp>
      <p:sp>
        <p:nvSpPr>
          <p:cNvPr id="120" name="TextBox 15"/>
          <p:cNvSpPr txBox="1"/>
          <p:nvPr/>
        </p:nvSpPr>
        <p:spPr>
          <a:xfrm>
            <a:off x="868680" y="3474720"/>
            <a:ext cx="10424161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buSzPct val="100000"/>
              <a:buChar char="•"/>
              <a:defRPr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Multiple processes may be ready at the same time.</a:t>
            </a:r>
          </a:p>
          <a:p>
            <a:pPr>
              <a:spcBef>
                <a:spcPts val="1000"/>
              </a:spcBef>
              <a:buSzPct val="100000"/>
              <a:buChar char="•"/>
              <a:defRPr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Preemptive scheduling re-evaluates the selected process at each time step.</a:t>
            </a:r>
          </a:p>
          <a:p>
            <a:pPr>
              <a:spcBef>
                <a:spcPts val="1000"/>
              </a:spcBef>
              <a:buSzPct val="100000"/>
              <a:buChar char="•"/>
              <a:defRPr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In this project, a smaller numeric priority means a higher priority.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 txBox="1"/>
          <p:nvPr/>
        </p:nvSpPr>
        <p:spPr>
          <a:xfrm>
            <a:off x="548639" y="256031"/>
            <a:ext cx="1106424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2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  |  Problem Statement</a:t>
            </a:r>
          </a:p>
        </p:txBody>
      </p:sp>
      <p:sp>
        <p:nvSpPr>
          <p:cNvPr id="123" name="Rectangle 2"/>
          <p:cNvSpPr/>
          <p:nvPr/>
        </p:nvSpPr>
        <p:spPr>
          <a:xfrm>
            <a:off x="530351" y="877824"/>
            <a:ext cx="1143001" cy="50293"/>
          </a:xfrm>
          <a:prstGeom prst="rect">
            <a:avLst/>
          </a:prstGeom>
          <a:solidFill>
            <a:srgbClr val="2DC8E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3"/>
          <p:cNvSpPr txBox="1"/>
          <p:nvPr/>
        </p:nvSpPr>
        <p:spPr>
          <a:xfrm>
            <a:off x="594360" y="987552"/>
            <a:ext cx="108813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Why traditional priority scheduling can be unfair</a:t>
            </a:r>
          </a:p>
        </p:txBody>
      </p:sp>
      <p:sp>
        <p:nvSpPr>
          <p:cNvPr id="125" name="TextBox 4"/>
          <p:cNvSpPr txBox="1"/>
          <p:nvPr/>
        </p:nvSpPr>
        <p:spPr>
          <a:xfrm>
            <a:off x="594359" y="6510528"/>
            <a:ext cx="1060704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SMART CPU SCHEDULER  •  OPERATING SYSTEMS PROJECT</a:t>
            </a:r>
          </a:p>
        </p:txBody>
      </p:sp>
      <p:sp>
        <p:nvSpPr>
          <p:cNvPr id="126" name="TextBox 5"/>
          <p:cNvSpPr txBox="1"/>
          <p:nvPr/>
        </p:nvSpPr>
        <p:spPr>
          <a:xfrm>
            <a:off x="11201400" y="6473952"/>
            <a:ext cx="365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b="1" sz="10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7" name="Rounded Rectangle 6"/>
          <p:cNvSpPr/>
          <p:nvPr/>
        </p:nvSpPr>
        <p:spPr>
          <a:xfrm>
            <a:off x="685800" y="1508760"/>
            <a:ext cx="5120641" cy="1828801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7"/>
          <p:cNvSpPr txBox="1"/>
          <p:nvPr/>
        </p:nvSpPr>
        <p:spPr>
          <a:xfrm>
            <a:off x="896112" y="1618488"/>
            <a:ext cx="4700015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FFAA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STARVATION</a:t>
            </a:r>
          </a:p>
        </p:txBody>
      </p:sp>
      <p:sp>
        <p:nvSpPr>
          <p:cNvPr id="129" name="TextBox 8"/>
          <p:cNvSpPr txBox="1"/>
          <p:nvPr/>
        </p:nvSpPr>
        <p:spPr>
          <a:xfrm>
            <a:off x="896112" y="1984248"/>
            <a:ext cx="4700015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low-priority process may wait for a very long time when higher-priority processes repeatedly get CPU access.</a:t>
            </a:r>
          </a:p>
        </p:txBody>
      </p:sp>
      <p:sp>
        <p:nvSpPr>
          <p:cNvPr id="130" name="Rounded Rectangle 9"/>
          <p:cNvSpPr/>
          <p:nvPr/>
        </p:nvSpPr>
        <p:spPr>
          <a:xfrm>
            <a:off x="6217920" y="1508760"/>
            <a:ext cx="5212080" cy="1828801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10"/>
          <p:cNvSpPr txBox="1"/>
          <p:nvPr/>
        </p:nvSpPr>
        <p:spPr>
          <a:xfrm>
            <a:off x="6428231" y="1618488"/>
            <a:ext cx="4791458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PROJECT SOLUTION</a:t>
            </a:r>
          </a:p>
        </p:txBody>
      </p:sp>
      <p:sp>
        <p:nvSpPr>
          <p:cNvPr id="132" name="TextBox 11"/>
          <p:cNvSpPr txBox="1"/>
          <p:nvPr/>
        </p:nvSpPr>
        <p:spPr>
          <a:xfrm>
            <a:off x="6428231" y="1984248"/>
            <a:ext cx="4791458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Dynamic priority adjustment (aging) improves the effective priority of waiting processes over time.</a:t>
            </a:r>
          </a:p>
        </p:txBody>
      </p:sp>
      <p:sp>
        <p:nvSpPr>
          <p:cNvPr id="133" name="TextBox 12"/>
          <p:cNvSpPr txBox="1"/>
          <p:nvPr/>
        </p:nvSpPr>
        <p:spPr>
          <a:xfrm>
            <a:off x="868679" y="3840479"/>
            <a:ext cx="1051560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7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Core problem</a:t>
            </a:r>
          </a:p>
        </p:txBody>
      </p:sp>
      <p:sp>
        <p:nvSpPr>
          <p:cNvPr id="134" name="TextBox 13"/>
          <p:cNvSpPr txBox="1"/>
          <p:nvPr/>
        </p:nvSpPr>
        <p:spPr>
          <a:xfrm>
            <a:off x="868680" y="4297679"/>
            <a:ext cx="10332720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scheduler should not rely only on a process’s original priority. It should also consider how long that process has been waiting, while continuing to execute ready processes correctly.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 txBox="1"/>
          <p:nvPr/>
        </p:nvSpPr>
        <p:spPr>
          <a:xfrm>
            <a:off x="548639" y="256031"/>
            <a:ext cx="1106424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2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  |  Objectives</a:t>
            </a:r>
          </a:p>
        </p:txBody>
      </p:sp>
      <p:sp>
        <p:nvSpPr>
          <p:cNvPr id="137" name="Rectangle 2"/>
          <p:cNvSpPr/>
          <p:nvPr/>
        </p:nvSpPr>
        <p:spPr>
          <a:xfrm>
            <a:off x="530351" y="877824"/>
            <a:ext cx="1143001" cy="50293"/>
          </a:xfrm>
          <a:prstGeom prst="rect">
            <a:avLst/>
          </a:prstGeom>
          <a:solidFill>
            <a:srgbClr val="2DC8E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3"/>
          <p:cNvSpPr txBox="1"/>
          <p:nvPr/>
        </p:nvSpPr>
        <p:spPr>
          <a:xfrm>
            <a:off x="594360" y="987552"/>
            <a:ext cx="108813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the project is designed to achieve</a:t>
            </a:r>
          </a:p>
        </p:txBody>
      </p:sp>
      <p:sp>
        <p:nvSpPr>
          <p:cNvPr id="139" name="TextBox 4"/>
          <p:cNvSpPr txBox="1"/>
          <p:nvPr/>
        </p:nvSpPr>
        <p:spPr>
          <a:xfrm>
            <a:off x="594359" y="6510528"/>
            <a:ext cx="1060704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SMART CPU SCHEDULER  •  OPERATING SYSTEMS PROJECT</a:t>
            </a:r>
          </a:p>
        </p:txBody>
      </p:sp>
      <p:sp>
        <p:nvSpPr>
          <p:cNvPr id="140" name="TextBox 5"/>
          <p:cNvSpPr txBox="1"/>
          <p:nvPr/>
        </p:nvSpPr>
        <p:spPr>
          <a:xfrm>
            <a:off x="11201400" y="6473952"/>
            <a:ext cx="365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b="1" sz="10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1" name="TextBox 6"/>
          <p:cNvSpPr txBox="1"/>
          <p:nvPr/>
        </p:nvSpPr>
        <p:spPr>
          <a:xfrm>
            <a:off x="868680" y="1508759"/>
            <a:ext cx="10424161" cy="280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buSzPct val="100000"/>
              <a:buChar char="•"/>
              <a:defRPr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Implement preemptive priority-based CPU scheduling in C.</a:t>
            </a:r>
          </a:p>
          <a:p>
            <a:pPr>
              <a:spcBef>
                <a:spcPts val="1000"/>
              </a:spcBef>
              <a:buSzPct val="100000"/>
              <a:buChar char="•"/>
              <a:defRPr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Apply priority aging to reduce starvation risk and improve fairness.</a:t>
            </a:r>
          </a:p>
          <a:p>
            <a:pPr>
              <a:spcBef>
                <a:spcPts val="1000"/>
              </a:spcBef>
              <a:buSzPct val="100000"/>
              <a:buChar char="•"/>
              <a:defRPr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Accept arrival time, burst time and initial priority for each process.</a:t>
            </a:r>
          </a:p>
          <a:p>
            <a:pPr>
              <a:spcBef>
                <a:spcPts val="1000"/>
              </a:spcBef>
              <a:buSzPct val="100000"/>
              <a:buChar char="•"/>
              <a:defRPr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Display the process execution sequence as a Gantt-style chart.</a:t>
            </a:r>
          </a:p>
          <a:p>
            <a:pPr>
              <a:spcBef>
                <a:spcPts val="1000"/>
              </a:spcBef>
              <a:buSzPct val="100000"/>
              <a:buChar char="•"/>
              <a:defRPr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Calculate CT, TAT, WT, RT and average performance metrics.</a:t>
            </a:r>
          </a:p>
          <a:p>
            <a:pPr>
              <a:spcBef>
                <a:spcPts val="1000"/>
              </a:spcBef>
              <a:buSzPct val="100000"/>
              <a:buChar char="•"/>
              <a:defRPr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Compare the proposed scheduler with a baseline scheduler without aging.</a:t>
            </a:r>
          </a:p>
          <a:p>
            <a:pPr>
              <a:spcBef>
                <a:spcPts val="1000"/>
              </a:spcBef>
              <a:buSzPct val="100000"/>
              <a:buChar char="•"/>
              <a:defRPr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Demonstrate OS concepts covered in CO1–CO6 using Linux/POSIX programs.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 txBox="1"/>
          <p:nvPr/>
        </p:nvSpPr>
        <p:spPr>
          <a:xfrm>
            <a:off x="548639" y="256031"/>
            <a:ext cx="1106424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2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05  |  Existing System vs Proposed System</a:t>
            </a:r>
          </a:p>
        </p:txBody>
      </p:sp>
      <p:sp>
        <p:nvSpPr>
          <p:cNvPr id="144" name="Rectangle 2"/>
          <p:cNvSpPr/>
          <p:nvPr/>
        </p:nvSpPr>
        <p:spPr>
          <a:xfrm>
            <a:off x="530351" y="877824"/>
            <a:ext cx="1143001" cy="50293"/>
          </a:xfrm>
          <a:prstGeom prst="rect">
            <a:avLst/>
          </a:prstGeom>
          <a:solidFill>
            <a:srgbClr val="2DC8E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3"/>
          <p:cNvSpPr txBox="1"/>
          <p:nvPr/>
        </p:nvSpPr>
        <p:spPr>
          <a:xfrm>
            <a:off x="594360" y="987552"/>
            <a:ext cx="108813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Comparison of static priority and priority aging</a:t>
            </a:r>
          </a:p>
        </p:txBody>
      </p:sp>
      <p:sp>
        <p:nvSpPr>
          <p:cNvPr id="146" name="TextBox 4"/>
          <p:cNvSpPr txBox="1"/>
          <p:nvPr/>
        </p:nvSpPr>
        <p:spPr>
          <a:xfrm>
            <a:off x="594359" y="6510528"/>
            <a:ext cx="1060704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SMART CPU SCHEDULER  •  OPERATING SYSTEMS PROJECT</a:t>
            </a:r>
          </a:p>
        </p:txBody>
      </p:sp>
      <p:sp>
        <p:nvSpPr>
          <p:cNvPr id="147" name="TextBox 5"/>
          <p:cNvSpPr txBox="1"/>
          <p:nvPr/>
        </p:nvSpPr>
        <p:spPr>
          <a:xfrm>
            <a:off x="11201400" y="6473952"/>
            <a:ext cx="365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b="1" sz="10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</a:t>
            </a:r>
          </a:p>
        </p:txBody>
      </p:sp>
      <p:graphicFrame>
        <p:nvGraphicFramePr>
          <p:cNvPr id="148" name="Table 6"/>
          <p:cNvGraphicFramePr/>
          <p:nvPr/>
        </p:nvGraphicFramePr>
        <p:xfrm>
          <a:off x="685800" y="1508760"/>
          <a:ext cx="10835641" cy="397764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286000"/>
                <a:gridCol w="4251960"/>
                <a:gridCol w="4297680"/>
              </a:tblGrid>
              <a:tr h="795527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Feature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35C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Without aging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35C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With aging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35CDC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Priority used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Original priority stays unchanged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Effective priority improves as waiting time grows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Starvation risk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Low-priority processes may be postponed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Risk is reduced by gradually improving priority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Selection rule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Smallest original priority number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Smallest effective priority number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</a:tr>
              <a:tr h="79553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Evaluation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Baseline results and metrics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Same workload, then compare metrics and fairness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</a:tr>
            </a:tbl>
          </a:graphicData>
        </a:graphic>
      </p:graphicFrame>
      <p:sp>
        <p:nvSpPr>
          <p:cNvPr id="149" name="TextBox 7"/>
          <p:cNvSpPr txBox="1"/>
          <p:nvPr/>
        </p:nvSpPr>
        <p:spPr>
          <a:xfrm>
            <a:off x="868680" y="5714999"/>
            <a:ext cx="1033272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Aging reduces starvation risk; it does not guarantee that every average metric will always decrease.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 txBox="1"/>
          <p:nvPr/>
        </p:nvSpPr>
        <p:spPr>
          <a:xfrm>
            <a:off x="548639" y="256031"/>
            <a:ext cx="1106424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2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06  |  Proposed Methodology</a:t>
            </a:r>
          </a:p>
        </p:txBody>
      </p:sp>
      <p:sp>
        <p:nvSpPr>
          <p:cNvPr id="152" name="Rectangle 2"/>
          <p:cNvSpPr/>
          <p:nvPr/>
        </p:nvSpPr>
        <p:spPr>
          <a:xfrm>
            <a:off x="530351" y="877824"/>
            <a:ext cx="1143001" cy="50293"/>
          </a:xfrm>
          <a:prstGeom prst="rect">
            <a:avLst/>
          </a:prstGeom>
          <a:solidFill>
            <a:srgbClr val="2DC8E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TextBox 3"/>
          <p:cNvSpPr txBox="1"/>
          <p:nvPr/>
        </p:nvSpPr>
        <p:spPr>
          <a:xfrm>
            <a:off x="594360" y="987552"/>
            <a:ext cx="10881361" cy="284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Input → calculate priority → select → execute → measure</a:t>
            </a:r>
          </a:p>
        </p:txBody>
      </p:sp>
      <p:sp>
        <p:nvSpPr>
          <p:cNvPr id="154" name="TextBox 4"/>
          <p:cNvSpPr txBox="1"/>
          <p:nvPr/>
        </p:nvSpPr>
        <p:spPr>
          <a:xfrm>
            <a:off x="594359" y="6510528"/>
            <a:ext cx="1060704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SMART CPU SCHEDULER  •  OPERATING SYSTEMS PROJECT</a:t>
            </a:r>
          </a:p>
        </p:txBody>
      </p:sp>
      <p:sp>
        <p:nvSpPr>
          <p:cNvPr id="155" name="TextBox 5"/>
          <p:cNvSpPr txBox="1"/>
          <p:nvPr/>
        </p:nvSpPr>
        <p:spPr>
          <a:xfrm>
            <a:off x="11201400" y="6473952"/>
            <a:ext cx="365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b="1" sz="10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56" name="Rounded Rectangle 6"/>
          <p:cNvSpPr/>
          <p:nvPr/>
        </p:nvSpPr>
        <p:spPr>
          <a:xfrm>
            <a:off x="457200" y="1828800"/>
            <a:ext cx="2057400" cy="1828800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7"/>
          <p:cNvSpPr txBox="1"/>
          <p:nvPr/>
        </p:nvSpPr>
        <p:spPr>
          <a:xfrm>
            <a:off x="667511" y="1938527"/>
            <a:ext cx="1636778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01  INPUT</a:t>
            </a:r>
          </a:p>
        </p:txBody>
      </p:sp>
      <p:sp>
        <p:nvSpPr>
          <p:cNvPr id="158" name="TextBox 8"/>
          <p:cNvSpPr txBox="1"/>
          <p:nvPr/>
        </p:nvSpPr>
        <p:spPr>
          <a:xfrm>
            <a:off x="667511" y="2304288"/>
            <a:ext cx="1636778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Arrival time</a:t>
            </a:r>
          </a:p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Burst time</a:t>
            </a:r>
          </a:p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Initial priority</a:t>
            </a:r>
          </a:p>
        </p:txBody>
      </p:sp>
      <p:sp>
        <p:nvSpPr>
          <p:cNvPr id="159" name="Chevron 9"/>
          <p:cNvSpPr/>
          <p:nvPr/>
        </p:nvSpPr>
        <p:spPr>
          <a:xfrm>
            <a:off x="2551176" y="2542032"/>
            <a:ext cx="210313" cy="365761"/>
          </a:xfrm>
          <a:prstGeom prst="chevron">
            <a:avLst>
              <a:gd name="adj" fmla="val 50000"/>
            </a:avLst>
          </a:prstGeom>
          <a:solidFill>
            <a:srgbClr val="235CD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Rounded Rectangle 10"/>
          <p:cNvSpPr/>
          <p:nvPr/>
        </p:nvSpPr>
        <p:spPr>
          <a:xfrm>
            <a:off x="2807207" y="1828800"/>
            <a:ext cx="2057401" cy="1828800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11"/>
          <p:cNvSpPr txBox="1"/>
          <p:nvPr/>
        </p:nvSpPr>
        <p:spPr>
          <a:xfrm>
            <a:off x="3017519" y="1938527"/>
            <a:ext cx="1636778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FFAA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  AGE</a:t>
            </a:r>
          </a:p>
        </p:txBody>
      </p:sp>
      <p:sp>
        <p:nvSpPr>
          <p:cNvPr id="162" name="TextBox 12"/>
          <p:cNvSpPr txBox="1"/>
          <p:nvPr/>
        </p:nvSpPr>
        <p:spPr>
          <a:xfrm>
            <a:off x="3017519" y="2304288"/>
            <a:ext cx="1636778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Improve priority after</a:t>
            </a:r>
          </a:p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3 waiting time units</a:t>
            </a:r>
          </a:p>
        </p:txBody>
      </p:sp>
      <p:sp>
        <p:nvSpPr>
          <p:cNvPr id="163" name="Chevron 13"/>
          <p:cNvSpPr/>
          <p:nvPr/>
        </p:nvSpPr>
        <p:spPr>
          <a:xfrm>
            <a:off x="4901183" y="2542032"/>
            <a:ext cx="210313" cy="365761"/>
          </a:xfrm>
          <a:prstGeom prst="chevron">
            <a:avLst>
              <a:gd name="adj" fmla="val 50000"/>
            </a:avLst>
          </a:prstGeom>
          <a:solidFill>
            <a:srgbClr val="235CD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Rounded Rectangle 14"/>
          <p:cNvSpPr/>
          <p:nvPr/>
        </p:nvSpPr>
        <p:spPr>
          <a:xfrm>
            <a:off x="5157215" y="1828800"/>
            <a:ext cx="2057401" cy="1828800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15"/>
          <p:cNvSpPr txBox="1"/>
          <p:nvPr/>
        </p:nvSpPr>
        <p:spPr>
          <a:xfrm>
            <a:off x="5367526" y="1938527"/>
            <a:ext cx="1636777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  SELECT</a:t>
            </a:r>
          </a:p>
        </p:txBody>
      </p:sp>
      <p:sp>
        <p:nvSpPr>
          <p:cNvPr id="166" name="TextBox 16"/>
          <p:cNvSpPr txBox="1"/>
          <p:nvPr/>
        </p:nvSpPr>
        <p:spPr>
          <a:xfrm>
            <a:off x="5367526" y="2304288"/>
            <a:ext cx="1636777" cy="764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Choose ready process</a:t>
            </a:r>
          </a:p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with best priority</a:t>
            </a:r>
          </a:p>
        </p:txBody>
      </p:sp>
      <p:sp>
        <p:nvSpPr>
          <p:cNvPr id="167" name="Chevron 17"/>
          <p:cNvSpPr/>
          <p:nvPr/>
        </p:nvSpPr>
        <p:spPr>
          <a:xfrm>
            <a:off x="7251192" y="2542032"/>
            <a:ext cx="210313" cy="365761"/>
          </a:xfrm>
          <a:prstGeom prst="chevron">
            <a:avLst>
              <a:gd name="adj" fmla="val 50000"/>
            </a:avLst>
          </a:prstGeom>
          <a:solidFill>
            <a:srgbClr val="235CD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Rounded Rectangle 18"/>
          <p:cNvSpPr/>
          <p:nvPr/>
        </p:nvSpPr>
        <p:spPr>
          <a:xfrm>
            <a:off x="7507223" y="1828800"/>
            <a:ext cx="2057401" cy="1828800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19"/>
          <p:cNvSpPr txBox="1"/>
          <p:nvPr/>
        </p:nvSpPr>
        <p:spPr>
          <a:xfrm>
            <a:off x="7717534" y="1938527"/>
            <a:ext cx="1636777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  EXECUTE</a:t>
            </a:r>
          </a:p>
        </p:txBody>
      </p:sp>
      <p:sp>
        <p:nvSpPr>
          <p:cNvPr id="170" name="TextBox 20"/>
          <p:cNvSpPr txBox="1"/>
          <p:nvPr/>
        </p:nvSpPr>
        <p:spPr>
          <a:xfrm>
            <a:off x="7717534" y="2304288"/>
            <a:ext cx="1636777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Run for one unit;</a:t>
            </a:r>
          </a:p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check for preemption</a:t>
            </a:r>
          </a:p>
        </p:txBody>
      </p:sp>
      <p:sp>
        <p:nvSpPr>
          <p:cNvPr id="171" name="Chevron 21"/>
          <p:cNvSpPr/>
          <p:nvPr/>
        </p:nvSpPr>
        <p:spPr>
          <a:xfrm>
            <a:off x="9601200" y="2542032"/>
            <a:ext cx="210312" cy="365761"/>
          </a:xfrm>
          <a:prstGeom prst="chevron">
            <a:avLst>
              <a:gd name="adj" fmla="val 50000"/>
            </a:avLst>
          </a:prstGeom>
          <a:solidFill>
            <a:srgbClr val="235CD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Rounded Rectangle 22"/>
          <p:cNvSpPr/>
          <p:nvPr/>
        </p:nvSpPr>
        <p:spPr>
          <a:xfrm>
            <a:off x="9857231" y="1828800"/>
            <a:ext cx="2057401" cy="1828800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23"/>
          <p:cNvSpPr txBox="1"/>
          <p:nvPr/>
        </p:nvSpPr>
        <p:spPr>
          <a:xfrm>
            <a:off x="10067543" y="1938527"/>
            <a:ext cx="1636777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05  REPORT</a:t>
            </a:r>
          </a:p>
        </p:txBody>
      </p:sp>
      <p:sp>
        <p:nvSpPr>
          <p:cNvPr id="174" name="TextBox 24"/>
          <p:cNvSpPr txBox="1"/>
          <p:nvPr/>
        </p:nvSpPr>
        <p:spPr>
          <a:xfrm>
            <a:off x="10067543" y="2304288"/>
            <a:ext cx="1636777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Gantt chart and</a:t>
            </a:r>
          </a:p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performance metrics</a:t>
            </a:r>
          </a:p>
        </p:txBody>
      </p:sp>
      <p:sp>
        <p:nvSpPr>
          <p:cNvPr id="175" name="TextBox 25"/>
          <p:cNvSpPr txBox="1"/>
          <p:nvPr/>
        </p:nvSpPr>
        <p:spPr>
          <a:xfrm>
            <a:off x="777239" y="4343399"/>
            <a:ext cx="1069848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b="1" sz="20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Effective Priority = max(0, Initial Priority − floor(Waiting Time / 3))</a:t>
            </a:r>
          </a:p>
        </p:txBody>
      </p:sp>
      <p:sp>
        <p:nvSpPr>
          <p:cNvPr id="176" name="TextBox 26"/>
          <p:cNvSpPr txBox="1"/>
          <p:nvPr/>
        </p:nvSpPr>
        <p:spPr>
          <a:xfrm>
            <a:off x="960119" y="5074920"/>
            <a:ext cx="1024128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4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Waiting time excludes the time already spent executing. Effective priority cannot go below 0.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"/>
          <p:cNvSpPr txBox="1"/>
          <p:nvPr/>
        </p:nvSpPr>
        <p:spPr>
          <a:xfrm>
            <a:off x="548639" y="256031"/>
            <a:ext cx="1106424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2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07  |  Implementation and Technologies</a:t>
            </a:r>
          </a:p>
        </p:txBody>
      </p:sp>
      <p:sp>
        <p:nvSpPr>
          <p:cNvPr id="179" name="Rectangle 2"/>
          <p:cNvSpPr/>
          <p:nvPr/>
        </p:nvSpPr>
        <p:spPr>
          <a:xfrm>
            <a:off x="530351" y="877824"/>
            <a:ext cx="1143001" cy="50293"/>
          </a:xfrm>
          <a:prstGeom prst="rect">
            <a:avLst/>
          </a:prstGeom>
          <a:solidFill>
            <a:srgbClr val="2DC8E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3"/>
          <p:cNvSpPr txBox="1"/>
          <p:nvPr/>
        </p:nvSpPr>
        <p:spPr>
          <a:xfrm>
            <a:off x="594360" y="987552"/>
            <a:ext cx="108813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 language, GCC compiler and Ubuntu/Linux terminal</a:t>
            </a:r>
          </a:p>
        </p:txBody>
      </p:sp>
      <p:sp>
        <p:nvSpPr>
          <p:cNvPr id="181" name="TextBox 4"/>
          <p:cNvSpPr txBox="1"/>
          <p:nvPr/>
        </p:nvSpPr>
        <p:spPr>
          <a:xfrm>
            <a:off x="594359" y="6510528"/>
            <a:ext cx="1060704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SMART CPU SCHEDULER  •  OPERATING SYSTEMS PROJECT</a:t>
            </a:r>
          </a:p>
        </p:txBody>
      </p:sp>
      <p:sp>
        <p:nvSpPr>
          <p:cNvPr id="182" name="TextBox 5"/>
          <p:cNvSpPr txBox="1"/>
          <p:nvPr/>
        </p:nvSpPr>
        <p:spPr>
          <a:xfrm>
            <a:off x="11201400" y="6473952"/>
            <a:ext cx="365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b="1" sz="10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83" name="Rounded Rectangle 6"/>
          <p:cNvSpPr/>
          <p:nvPr/>
        </p:nvSpPr>
        <p:spPr>
          <a:xfrm>
            <a:off x="640080" y="1463039"/>
            <a:ext cx="3474721" cy="1417321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extBox 7"/>
          <p:cNvSpPr txBox="1"/>
          <p:nvPr/>
        </p:nvSpPr>
        <p:spPr>
          <a:xfrm>
            <a:off x="850390" y="1572767"/>
            <a:ext cx="3054098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LANGUAGE</a:t>
            </a:r>
          </a:p>
        </p:txBody>
      </p:sp>
      <p:sp>
        <p:nvSpPr>
          <p:cNvPr id="185" name="TextBox 8"/>
          <p:cNvSpPr txBox="1"/>
          <p:nvPr/>
        </p:nvSpPr>
        <p:spPr>
          <a:xfrm>
            <a:off x="850390" y="1938527"/>
            <a:ext cx="3054098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C11 source code</a:t>
            </a:r>
          </a:p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Process structures and scheduling loop</a:t>
            </a:r>
          </a:p>
        </p:txBody>
      </p:sp>
      <p:sp>
        <p:nvSpPr>
          <p:cNvPr id="186" name="Rounded Rectangle 9"/>
          <p:cNvSpPr/>
          <p:nvPr/>
        </p:nvSpPr>
        <p:spPr>
          <a:xfrm>
            <a:off x="4343400" y="1463039"/>
            <a:ext cx="3474721" cy="1417321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10"/>
          <p:cNvSpPr txBox="1"/>
          <p:nvPr/>
        </p:nvSpPr>
        <p:spPr>
          <a:xfrm>
            <a:off x="4553711" y="1572767"/>
            <a:ext cx="3054097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235CD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TOOLS</a:t>
            </a:r>
          </a:p>
        </p:txBody>
      </p:sp>
      <p:sp>
        <p:nvSpPr>
          <p:cNvPr id="188" name="TextBox 11"/>
          <p:cNvSpPr txBox="1"/>
          <p:nvPr/>
        </p:nvSpPr>
        <p:spPr>
          <a:xfrm>
            <a:off x="4553711" y="1938527"/>
            <a:ext cx="3054097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GCC compiler</a:t>
            </a:r>
          </a:p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Makefile and Linux terminal</a:t>
            </a:r>
          </a:p>
        </p:txBody>
      </p:sp>
      <p:sp>
        <p:nvSpPr>
          <p:cNvPr id="189" name="Rounded Rectangle 12"/>
          <p:cNvSpPr/>
          <p:nvPr/>
        </p:nvSpPr>
        <p:spPr>
          <a:xfrm>
            <a:off x="8046719" y="1463039"/>
            <a:ext cx="3474721" cy="1417321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13"/>
          <p:cNvSpPr txBox="1"/>
          <p:nvPr/>
        </p:nvSpPr>
        <p:spPr>
          <a:xfrm>
            <a:off x="8257031" y="1572767"/>
            <a:ext cx="3054098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FFAA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191" name="TextBox 14"/>
          <p:cNvSpPr txBox="1"/>
          <p:nvPr/>
        </p:nvSpPr>
        <p:spPr>
          <a:xfrm>
            <a:off x="8257031" y="1938527"/>
            <a:ext cx="3054098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Gantt-style timeline</a:t>
            </a:r>
          </a:p>
          <a:p>
            <a: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Per-process and average metrics</a:t>
            </a:r>
          </a:p>
        </p:txBody>
      </p:sp>
      <p:sp>
        <p:nvSpPr>
          <p:cNvPr id="192" name="TextBox 15"/>
          <p:cNvSpPr txBox="1"/>
          <p:nvPr/>
        </p:nvSpPr>
        <p:spPr>
          <a:xfrm>
            <a:off x="822960" y="3383279"/>
            <a:ext cx="104241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7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PROGRAM FLOW</a:t>
            </a:r>
          </a:p>
        </p:txBody>
      </p:sp>
      <p:sp>
        <p:nvSpPr>
          <p:cNvPr id="193" name="TextBox 16"/>
          <p:cNvSpPr txBox="1"/>
          <p:nvPr/>
        </p:nvSpPr>
        <p:spPr>
          <a:xfrm>
            <a:off x="914399" y="3794759"/>
            <a:ext cx="10241282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buSzPct val="100000"/>
              <a:buChar char="•"/>
              <a:defRPr sz="16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Validate process count and process attributes.</a:t>
            </a:r>
          </a:p>
          <a:p>
            <a:pPr>
              <a:spcBef>
                <a:spcPts val="1000"/>
              </a:spcBef>
              <a:buSzPct val="100000"/>
              <a:buChar char="•"/>
              <a:defRPr sz="16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Track remaining burst time, first start time and completion time.</a:t>
            </a:r>
          </a:p>
          <a:p>
            <a:pPr>
              <a:spcBef>
                <a:spcPts val="1000"/>
              </a:spcBef>
              <a:buSzPct val="100000"/>
              <a:buChar char="•"/>
              <a:defRPr sz="16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Choose the best ready process at each simulated time unit.</a:t>
            </a:r>
          </a:p>
          <a:p>
            <a:pPr>
              <a:spcBef>
                <a:spcPts val="1000"/>
              </a:spcBef>
              <a:buSzPct val="100000"/>
              <a:buChar char="•"/>
              <a:defRPr sz="16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Compute CT, TAT, WT and RT after all processes finish.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1"/>
          <p:cNvSpPr txBox="1"/>
          <p:nvPr/>
        </p:nvSpPr>
        <p:spPr>
          <a:xfrm>
            <a:off x="548639" y="256031"/>
            <a:ext cx="1106424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2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08  |  Results and Performance Metrics</a:t>
            </a:r>
          </a:p>
        </p:txBody>
      </p:sp>
      <p:sp>
        <p:nvSpPr>
          <p:cNvPr id="196" name="Rectangle 2"/>
          <p:cNvSpPr/>
          <p:nvPr/>
        </p:nvSpPr>
        <p:spPr>
          <a:xfrm>
            <a:off x="530351" y="877824"/>
            <a:ext cx="1143001" cy="50293"/>
          </a:xfrm>
          <a:prstGeom prst="rect">
            <a:avLst/>
          </a:prstGeom>
          <a:solidFill>
            <a:srgbClr val="2DC8E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3"/>
          <p:cNvSpPr txBox="1"/>
          <p:nvPr/>
        </p:nvSpPr>
        <p:spPr>
          <a:xfrm>
            <a:off x="594360" y="987552"/>
            <a:ext cx="108813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 actual terminal screenshots from your running project</a:t>
            </a:r>
          </a:p>
        </p:txBody>
      </p:sp>
      <p:sp>
        <p:nvSpPr>
          <p:cNvPr id="198" name="TextBox 4"/>
          <p:cNvSpPr txBox="1"/>
          <p:nvPr/>
        </p:nvSpPr>
        <p:spPr>
          <a:xfrm>
            <a:off x="594359" y="6510528"/>
            <a:ext cx="1060704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SMART CPU SCHEDULER  •  OPERATING SYSTEMS PROJECT</a:t>
            </a:r>
          </a:p>
        </p:txBody>
      </p:sp>
      <p:sp>
        <p:nvSpPr>
          <p:cNvPr id="199" name="TextBox 5"/>
          <p:cNvSpPr txBox="1"/>
          <p:nvPr/>
        </p:nvSpPr>
        <p:spPr>
          <a:xfrm>
            <a:off x="11201400" y="6473952"/>
            <a:ext cx="365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b="1" sz="10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00" name="Rounded Rectangle 6"/>
          <p:cNvSpPr/>
          <p:nvPr/>
        </p:nvSpPr>
        <p:spPr>
          <a:xfrm>
            <a:off x="685800" y="1417319"/>
            <a:ext cx="3429000" cy="1417321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extBox 7"/>
          <p:cNvSpPr txBox="1"/>
          <p:nvPr/>
        </p:nvSpPr>
        <p:spPr>
          <a:xfrm>
            <a:off x="896111" y="1527047"/>
            <a:ext cx="3008378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COMPLETION TIME (CT)</a:t>
            </a:r>
          </a:p>
        </p:txBody>
      </p:sp>
      <p:sp>
        <p:nvSpPr>
          <p:cNvPr id="202" name="TextBox 8"/>
          <p:cNvSpPr txBox="1"/>
          <p:nvPr/>
        </p:nvSpPr>
        <p:spPr>
          <a:xfrm>
            <a:off x="896111" y="1892807"/>
            <a:ext cx="3008378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Time at which a process finishes.</a:t>
            </a:r>
          </a:p>
        </p:txBody>
      </p:sp>
      <p:sp>
        <p:nvSpPr>
          <p:cNvPr id="203" name="Rounded Rectangle 9"/>
          <p:cNvSpPr/>
          <p:nvPr/>
        </p:nvSpPr>
        <p:spPr>
          <a:xfrm>
            <a:off x="4389120" y="1417319"/>
            <a:ext cx="3429001" cy="1417321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extBox 10"/>
          <p:cNvSpPr txBox="1"/>
          <p:nvPr/>
        </p:nvSpPr>
        <p:spPr>
          <a:xfrm>
            <a:off x="4599431" y="1527047"/>
            <a:ext cx="3008377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235CD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TURNAROUND TIME</a:t>
            </a:r>
          </a:p>
        </p:txBody>
      </p:sp>
      <p:sp>
        <p:nvSpPr>
          <p:cNvPr id="205" name="TextBox 11"/>
          <p:cNvSpPr txBox="1"/>
          <p:nvPr/>
        </p:nvSpPr>
        <p:spPr>
          <a:xfrm>
            <a:off x="4599431" y="1892807"/>
            <a:ext cx="300837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TAT = CT − Arrival Time</a:t>
            </a:r>
          </a:p>
        </p:txBody>
      </p:sp>
      <p:sp>
        <p:nvSpPr>
          <p:cNvPr id="206" name="Rounded Rectangle 12"/>
          <p:cNvSpPr/>
          <p:nvPr/>
        </p:nvSpPr>
        <p:spPr>
          <a:xfrm>
            <a:off x="8092440" y="1417319"/>
            <a:ext cx="3429001" cy="1417321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13"/>
          <p:cNvSpPr txBox="1"/>
          <p:nvPr/>
        </p:nvSpPr>
        <p:spPr>
          <a:xfrm>
            <a:off x="8302750" y="1527047"/>
            <a:ext cx="3008377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FFAA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WAITING TIME</a:t>
            </a:r>
          </a:p>
        </p:txBody>
      </p:sp>
      <p:sp>
        <p:nvSpPr>
          <p:cNvPr id="208" name="TextBox 14"/>
          <p:cNvSpPr txBox="1"/>
          <p:nvPr/>
        </p:nvSpPr>
        <p:spPr>
          <a:xfrm>
            <a:off x="8302750" y="1892807"/>
            <a:ext cx="300837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WT = TAT − Burst Time</a:t>
            </a:r>
          </a:p>
        </p:txBody>
      </p:sp>
      <p:sp>
        <p:nvSpPr>
          <p:cNvPr id="209" name="Rounded Rectangle 15"/>
          <p:cNvSpPr/>
          <p:nvPr/>
        </p:nvSpPr>
        <p:spPr>
          <a:xfrm>
            <a:off x="2514600" y="3246120"/>
            <a:ext cx="3429000" cy="1417321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TextBox 16"/>
          <p:cNvSpPr txBox="1"/>
          <p:nvPr/>
        </p:nvSpPr>
        <p:spPr>
          <a:xfrm>
            <a:off x="2724912" y="3355847"/>
            <a:ext cx="3008377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5EDCA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RESPONSE TIME</a:t>
            </a:r>
          </a:p>
        </p:txBody>
      </p:sp>
      <p:sp>
        <p:nvSpPr>
          <p:cNvPr id="211" name="TextBox 17"/>
          <p:cNvSpPr txBox="1"/>
          <p:nvPr/>
        </p:nvSpPr>
        <p:spPr>
          <a:xfrm>
            <a:off x="2724912" y="3721608"/>
            <a:ext cx="300837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RT = First Start − Arrival Time</a:t>
            </a:r>
          </a:p>
        </p:txBody>
      </p:sp>
      <p:sp>
        <p:nvSpPr>
          <p:cNvPr id="212" name="Rounded Rectangle 18"/>
          <p:cNvSpPr/>
          <p:nvPr/>
        </p:nvSpPr>
        <p:spPr>
          <a:xfrm>
            <a:off x="6217920" y="3246120"/>
            <a:ext cx="3429001" cy="1417321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TextBox 19"/>
          <p:cNvSpPr txBox="1"/>
          <p:nvPr/>
        </p:nvSpPr>
        <p:spPr>
          <a:xfrm>
            <a:off x="6428231" y="3355847"/>
            <a:ext cx="3008377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AVERAGES</a:t>
            </a:r>
          </a:p>
        </p:txBody>
      </p:sp>
      <p:sp>
        <p:nvSpPr>
          <p:cNvPr id="214" name="TextBox 20"/>
          <p:cNvSpPr txBox="1"/>
          <p:nvPr/>
        </p:nvSpPr>
        <p:spPr>
          <a:xfrm>
            <a:off x="6428231" y="3721608"/>
            <a:ext cx="300837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Average WT, TAT and RT</a:t>
            </a:r>
          </a:p>
        </p:txBody>
      </p:sp>
      <p:sp>
        <p:nvSpPr>
          <p:cNvPr id="215" name="TextBox 21"/>
          <p:cNvSpPr txBox="1"/>
          <p:nvPr/>
        </p:nvSpPr>
        <p:spPr>
          <a:xfrm>
            <a:off x="868680" y="5257800"/>
            <a:ext cx="104241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4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Insert: terminal output, Gantt chart, metric table and the measured averages from your actual run.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1"/>
          <p:cNvSpPr txBox="1"/>
          <p:nvPr/>
        </p:nvSpPr>
        <p:spPr>
          <a:xfrm>
            <a:off x="548639" y="256031"/>
            <a:ext cx="1106424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2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09  |  Integration of OS Course Outcomes</a:t>
            </a:r>
          </a:p>
        </p:txBody>
      </p:sp>
      <p:sp>
        <p:nvSpPr>
          <p:cNvPr id="218" name="Rectangle 2"/>
          <p:cNvSpPr/>
          <p:nvPr/>
        </p:nvSpPr>
        <p:spPr>
          <a:xfrm>
            <a:off x="530351" y="877824"/>
            <a:ext cx="1143001" cy="50293"/>
          </a:xfrm>
          <a:prstGeom prst="rect">
            <a:avLst/>
          </a:prstGeom>
          <a:solidFill>
            <a:srgbClr val="2DC8E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" name="TextBox 3"/>
          <p:cNvSpPr txBox="1"/>
          <p:nvPr/>
        </p:nvSpPr>
        <p:spPr>
          <a:xfrm>
            <a:off x="594360" y="987552"/>
            <a:ext cx="108813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Project-related demonstrations mapped to all six handout COs</a:t>
            </a:r>
          </a:p>
        </p:txBody>
      </p:sp>
      <p:sp>
        <p:nvSpPr>
          <p:cNvPr id="220" name="TextBox 4"/>
          <p:cNvSpPr txBox="1"/>
          <p:nvPr/>
        </p:nvSpPr>
        <p:spPr>
          <a:xfrm>
            <a:off x="594359" y="6510528"/>
            <a:ext cx="1060704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SMART CPU SCHEDULER  •  OPERATING SYSTEMS PROJECT</a:t>
            </a:r>
          </a:p>
        </p:txBody>
      </p:sp>
      <p:sp>
        <p:nvSpPr>
          <p:cNvPr id="221" name="TextBox 5"/>
          <p:cNvSpPr txBox="1"/>
          <p:nvPr/>
        </p:nvSpPr>
        <p:spPr>
          <a:xfrm>
            <a:off x="11201400" y="6473952"/>
            <a:ext cx="365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b="1" sz="10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9</a:t>
            </a:r>
          </a:p>
        </p:txBody>
      </p:sp>
      <p:graphicFrame>
        <p:nvGraphicFramePr>
          <p:cNvPr id="222" name="Table 6"/>
          <p:cNvGraphicFramePr/>
          <p:nvPr/>
        </p:nvGraphicFramePr>
        <p:xfrm>
          <a:off x="640080" y="1325880"/>
          <a:ext cx="10927081" cy="452628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914400"/>
                <a:gridCol w="2743200"/>
                <a:gridCol w="726948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35C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Area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35C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Project connection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35CD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OS services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System calls and terminal input/output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Process control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fork(), exec(), waitpid() and scheduling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IPC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Pipes, FIFO, signals, shared memory and sockets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Virtual memory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mmap(), page faults and copy-on-write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File systems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File descriptors and scheduler-result file I/O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Concurrency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2EAF8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Threads, mutexes, condition variables and semaphores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E1636"/>
                    </a:solidFill>
                  </a:tcPr>
                </a:tc>
              </a:tr>
            </a:tbl>
          </a:graphicData>
        </a:graphic>
      </p:graphicFrame>
      <p:sp>
        <p:nvSpPr>
          <p:cNvPr id="223" name="TextBox 7"/>
          <p:cNvSpPr txBox="1"/>
          <p:nvPr/>
        </p:nvSpPr>
        <p:spPr>
          <a:xfrm>
            <a:off x="822960" y="5989320"/>
            <a:ext cx="1033272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0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These are separate OS concept demonstrations; the main scheduler remains a user-space simulation.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1"/>
          <p:cNvSpPr txBox="1"/>
          <p:nvPr/>
        </p:nvSpPr>
        <p:spPr>
          <a:xfrm>
            <a:off x="548639" y="256031"/>
            <a:ext cx="1106424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25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  |  Conclusion and Live Demonstration</a:t>
            </a:r>
          </a:p>
        </p:txBody>
      </p:sp>
      <p:sp>
        <p:nvSpPr>
          <p:cNvPr id="226" name="Rectangle 2"/>
          <p:cNvSpPr/>
          <p:nvPr/>
        </p:nvSpPr>
        <p:spPr>
          <a:xfrm>
            <a:off x="530351" y="877824"/>
            <a:ext cx="1143001" cy="50293"/>
          </a:xfrm>
          <a:prstGeom prst="rect">
            <a:avLst/>
          </a:prstGeom>
          <a:solidFill>
            <a:srgbClr val="2DC8E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extBox 3"/>
          <p:cNvSpPr txBox="1"/>
          <p:nvPr/>
        </p:nvSpPr>
        <p:spPr>
          <a:xfrm>
            <a:off x="594360" y="987552"/>
            <a:ext cx="108813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Key takeaway and steps to demonstrate the project</a:t>
            </a:r>
          </a:p>
        </p:txBody>
      </p:sp>
      <p:sp>
        <p:nvSpPr>
          <p:cNvPr id="228" name="TextBox 4"/>
          <p:cNvSpPr txBox="1"/>
          <p:nvPr/>
        </p:nvSpPr>
        <p:spPr>
          <a:xfrm>
            <a:off x="594359" y="6510528"/>
            <a:ext cx="1060704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>
                <a:solidFill>
                  <a:srgbClr val="A5B2C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SMART CPU SCHEDULER  •  OPERATING SYSTEMS PROJECT</a:t>
            </a:r>
          </a:p>
        </p:txBody>
      </p:sp>
      <p:sp>
        <p:nvSpPr>
          <p:cNvPr id="229" name="TextBox 5"/>
          <p:cNvSpPr txBox="1"/>
          <p:nvPr/>
        </p:nvSpPr>
        <p:spPr>
          <a:xfrm>
            <a:off x="11201400" y="6473952"/>
            <a:ext cx="365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b="1" sz="10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30" name="Rounded Rectangle 6"/>
          <p:cNvSpPr/>
          <p:nvPr/>
        </p:nvSpPr>
        <p:spPr>
          <a:xfrm>
            <a:off x="685800" y="1417319"/>
            <a:ext cx="5212080" cy="1508762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TextBox 7"/>
          <p:cNvSpPr txBox="1"/>
          <p:nvPr/>
        </p:nvSpPr>
        <p:spPr>
          <a:xfrm>
            <a:off x="896111" y="1527047"/>
            <a:ext cx="4791458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232" name="TextBox 8"/>
          <p:cNvSpPr txBox="1"/>
          <p:nvPr/>
        </p:nvSpPr>
        <p:spPr>
          <a:xfrm>
            <a:off x="896111" y="1892807"/>
            <a:ext cx="4791458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Priority aging gives waiting processes a better chance to execute and helps reduce starvation risk.</a:t>
            </a:r>
          </a:p>
        </p:txBody>
      </p:sp>
      <p:sp>
        <p:nvSpPr>
          <p:cNvPr id="233" name="Rounded Rectangle 9"/>
          <p:cNvSpPr/>
          <p:nvPr/>
        </p:nvSpPr>
        <p:spPr>
          <a:xfrm>
            <a:off x="6263640" y="1417319"/>
            <a:ext cx="5212081" cy="1508762"/>
          </a:xfrm>
          <a:prstGeom prst="roundRect">
            <a:avLst>
              <a:gd name="adj" fmla="val 16667"/>
            </a:avLst>
          </a:prstGeom>
          <a:solidFill>
            <a:srgbClr val="0E1636"/>
          </a:solidFill>
          <a:ln>
            <a:solidFill>
              <a:srgbClr val="30437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10"/>
          <p:cNvSpPr txBox="1"/>
          <p:nvPr/>
        </p:nvSpPr>
        <p:spPr>
          <a:xfrm>
            <a:off x="6473950" y="1527047"/>
            <a:ext cx="4791457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500">
                <a:solidFill>
                  <a:srgbClr val="235CD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PROJECT VALUE</a:t>
            </a:r>
          </a:p>
        </p:txBody>
      </p:sp>
      <p:sp>
        <p:nvSpPr>
          <p:cNvPr id="235" name="TextBox 11"/>
          <p:cNvSpPr txBox="1"/>
          <p:nvPr/>
        </p:nvSpPr>
        <p:spPr>
          <a:xfrm>
            <a:off x="6473950" y="1892807"/>
            <a:ext cx="4791457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Combines CPU scheduling theory with practical Linux system-programming concepts from CO1–CO6.</a:t>
            </a:r>
          </a:p>
        </p:txBody>
      </p:sp>
      <p:sp>
        <p:nvSpPr>
          <p:cNvPr id="236" name="TextBox 12"/>
          <p:cNvSpPr txBox="1"/>
          <p:nvPr/>
        </p:nvSpPr>
        <p:spPr>
          <a:xfrm>
            <a:off x="868680" y="3428999"/>
            <a:ext cx="1033272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 sz="1700">
                <a:solidFill>
                  <a:srgbClr val="2DC8E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LIVE DEMO CHECKLIST</a:t>
            </a:r>
          </a:p>
        </p:txBody>
      </p:sp>
      <p:sp>
        <p:nvSpPr>
          <p:cNvPr id="237" name="TextBox 13"/>
          <p:cNvSpPr txBox="1"/>
          <p:nvPr/>
        </p:nvSpPr>
        <p:spPr>
          <a:xfrm>
            <a:off x="960119" y="3840479"/>
            <a:ext cx="10149842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buSzPct val="100000"/>
              <a:buChar char="•"/>
              <a:defRPr sz="16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Compile using make and run ./scheduler.</a:t>
            </a:r>
          </a:p>
          <a:p>
            <a:pPr>
              <a:spcBef>
                <a:spcPts val="1000"/>
              </a:spcBef>
              <a:buSzPct val="100000"/>
              <a:buChar char="•"/>
              <a:defRPr sz="16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Enter process details and explain the Gantt chart and metrics.</a:t>
            </a:r>
          </a:p>
          <a:p>
            <a:pPr>
              <a:spcBef>
                <a:spcPts val="1000"/>
              </a:spcBef>
              <a:buSzPct val="100000"/>
              <a:buChar char="•"/>
              <a:defRPr sz="16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Run the baseline with identical input and compare the results.</a:t>
            </a:r>
          </a:p>
          <a:p>
            <a:pPr>
              <a:spcBef>
                <a:spcPts val="1000"/>
              </a:spcBef>
              <a:buSzPct val="100000"/>
              <a:buChar char="•"/>
              <a:defRPr sz="1600">
                <a:solidFill>
                  <a:srgbClr val="E2EAF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Show selected CO demonstrations and the saved file output.</a:t>
            </a:r>
          </a:p>
        </p:txBody>
      </p:sp>
      <p:sp>
        <p:nvSpPr>
          <p:cNvPr id="238" name="TextBox 14"/>
          <p:cNvSpPr txBox="1"/>
          <p:nvPr/>
        </p:nvSpPr>
        <p:spPr>
          <a:xfrm>
            <a:off x="868680" y="5806440"/>
            <a:ext cx="1042416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b="1" sz="20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